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Outdoor share of seats</c:v>
                </c:pt>
              </c:strCache>
            </c:strRef>
          </c:tx>
          <c:spPr>
            <a:solidFill>
              <a:srgbClr val="B06E14"/>
            </a:solidFill>
          </c:spPr>
          <c:cat>
            <c:strRef>
              <c:f>Sheet1!$A$2:$A$5</c:f>
              <c:strCache>
                <c:ptCount val="4"/>
                <c:pt idx="0">
                  <c:v>DXB-MAR</c:v>
                </c:pt>
                <c:pt idx="1">
                  <c:v>DXB-DEI</c:v>
                </c:pt>
                <c:pt idx="2">
                  <c:v>DXB-DTN</c:v>
                </c:pt>
                <c:pt idx="3">
                  <c:v>DXB-MOE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53.5</c:v>
                </c:pt>
                <c:pt idx="1">
                  <c:v>27.3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6DE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EE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64748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MAWSIM (MAE)</c:v>
                </c:pt>
              </c:strCache>
            </c:strRef>
          </c:tx>
          <c:spPr>
            <a:solidFill>
              <a:srgbClr val="1F4E79"/>
            </a:solidFill>
          </c:spPr>
          <c:cat>
            <c:strRef>
              <c:f>Sheet1!$A$2:$A$5</c:f>
              <c:strCache>
                <c:ptCount val="4"/>
                <c:pt idx="0">
                  <c:v>DXB-DTN</c:v>
                </c:pt>
                <c:pt idx="1">
                  <c:v>DXB-MOE</c:v>
                </c:pt>
                <c:pt idx="2">
                  <c:v>DXB-MAR</c:v>
                </c:pt>
                <c:pt idx="3">
                  <c:v>DXB-DEI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7.84</c:v>
                </c:pt>
                <c:pt idx="1">
                  <c:v>9.15</c:v>
                </c:pt>
                <c:pt idx="2">
                  <c:v>8.46</c:v>
                </c:pt>
                <c:pt idx="3">
                  <c:v>4.55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Seasonal naive (MAE)</c:v>
                </c:pt>
              </c:strCache>
            </c:strRef>
          </c:tx>
          <c:spPr>
            <a:solidFill>
              <a:srgbClr val="C3CED8"/>
            </a:solidFill>
          </c:spPr>
          <c:cat>
            <c:strRef>
              <c:f>Sheet1!$A$2:$A$5</c:f>
              <c:strCache>
                <c:ptCount val="4"/>
                <c:pt idx="0">
                  <c:v>DXB-DTN</c:v>
                </c:pt>
                <c:pt idx="1">
                  <c:v>DXB-MOE</c:v>
                </c:pt>
                <c:pt idx="2">
                  <c:v>DXB-MAR</c:v>
                </c:pt>
                <c:pt idx="3">
                  <c:v>DXB-DEI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11.18</c:v>
                </c:pt>
                <c:pt idx="1">
                  <c:v>13.92</c:v>
                </c:pt>
                <c:pt idx="2">
                  <c:v>11.75</c:v>
                </c:pt>
                <c:pt idx="3">
                  <c:v>6.39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6DE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EE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100">
          <a:solidFill>
            <a:srgbClr val="64748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MAWSIM (sMAPE %)</c:v>
                </c:pt>
              </c:strCache>
            </c:strRef>
          </c:tx>
          <c:spPr>
            <a:solidFill>
              <a:srgbClr val="B06E14"/>
            </a:solidFill>
          </c:spPr>
          <c:cat>
            <c:strRef>
              <c:f>Sheet1!$A$2:$A$5</c:f>
              <c:strCache>
                <c:ptCount val="4"/>
                <c:pt idx="0">
                  <c:v>DXB-DTN</c:v>
                </c:pt>
                <c:pt idx="1">
                  <c:v>DXB-MOE</c:v>
                </c:pt>
                <c:pt idx="2">
                  <c:v>DXB-MAR</c:v>
                </c:pt>
                <c:pt idx="3">
                  <c:v>DXB-DEI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14.7</c:v>
                </c:pt>
                <c:pt idx="1">
                  <c:v>13.9</c:v>
                </c:pt>
                <c:pt idx="2">
                  <c:v>26.4</c:v>
                </c:pt>
                <c:pt idx="3">
                  <c:v>14.7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Seasonal naive (sMAPE %)</c:v>
                </c:pt>
              </c:strCache>
            </c:strRef>
          </c:tx>
          <c:spPr>
            <a:solidFill>
              <a:srgbClr val="C3CED8"/>
            </a:solidFill>
          </c:spPr>
          <c:cat>
            <c:strRef>
              <c:f>Sheet1!$A$2:$A$5</c:f>
              <c:strCache>
                <c:ptCount val="4"/>
                <c:pt idx="0">
                  <c:v>DXB-DTN</c:v>
                </c:pt>
                <c:pt idx="1">
                  <c:v>DXB-MOE</c:v>
                </c:pt>
                <c:pt idx="2">
                  <c:v>DXB-MAR</c:v>
                </c:pt>
                <c:pt idx="3">
                  <c:v>DXB-DEI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20.7</c:v>
                </c:pt>
                <c:pt idx="1">
                  <c:v>20.8</c:v>
                </c:pt>
                <c:pt idx="2">
                  <c:v>20.6</c:v>
                </c:pt>
                <c:pt idx="3">
                  <c:v>19.9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6DE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EE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100">
          <a:solidFill>
            <a:srgbClr val="64748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Injected</c:v>
                </c:pt>
              </c:strCache>
            </c:strRef>
          </c:tx>
          <c:spPr>
            <a:solidFill>
              <a:srgbClr val="C3CED8"/>
            </a:solidFill>
          </c:spPr>
          <c:cat>
            <c:strRef>
              <c:f>Sheet1!$A$2:$A$6</c:f>
              <c:strCache>
                <c:ptCount val="5"/>
                <c:pt idx="0">
                  <c:v>+30%</c:v>
                </c:pt>
                <c:pt idx="1">
                  <c:v>+20%</c:v>
                </c:pt>
                <c:pt idx="2">
                  <c:v>+10%</c:v>
                </c:pt>
                <c:pt idx="3">
                  <c:v>+5%</c:v>
                </c:pt>
                <c:pt idx="4">
                  <c:v>+0%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30.0</c:v>
                </c:pt>
                <c:pt idx="1">
                  <c:v>20.0</c:v>
                </c:pt>
                <c:pt idx="2">
                  <c:v>10.0</c:v>
                </c:pt>
                <c:pt idx="3">
                  <c:v>5.0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Recovered</c:v>
                </c:pt>
              </c:strCache>
            </c:strRef>
          </c:tx>
          <c:spPr>
            <a:solidFill>
              <a:srgbClr val="1F4E79"/>
            </a:solidFill>
          </c:spPr>
          <c:cat>
            <c:strRef>
              <c:f>Sheet1!$A$2:$A$6</c:f>
              <c:strCache>
                <c:ptCount val="5"/>
                <c:pt idx="0">
                  <c:v>+30%</c:v>
                </c:pt>
                <c:pt idx="1">
                  <c:v>+20%</c:v>
                </c:pt>
                <c:pt idx="2">
                  <c:v>+10%</c:v>
                </c:pt>
                <c:pt idx="3">
                  <c:v>+5%</c:v>
                </c:pt>
                <c:pt idx="4">
                  <c:v>+0%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27.4</c:v>
                </c:pt>
                <c:pt idx="1">
                  <c:v>17.9</c:v>
                </c:pt>
                <c:pt idx="2">
                  <c:v>8.3</c:v>
                </c:pt>
                <c:pt idx="3">
                  <c:v>3.6</c:v>
                </c:pt>
                <c:pt idx="4">
                  <c:v>-1.2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6DE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EE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100">
          <a:solidFill>
            <a:srgbClr val="64748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here, do not read it. One sentence: demand moves with things you can look up in advance — events, weather, holidays, school terms — and almost nobody plans promotions against them.</a:t>
            </a:r>
          </a:p>
          <a:p/>
          <a:p>
            <a:r>
              <a:t>Say the live URL is real and the app is running now. If the room is warm, offer to open it at the end rather than mid-argument.</a:t>
            </a:r>
          </a:p>
          <a:p/>
          <a:p>
            <a:r>
              <a:t>Do not mention the brand yet. That is slide 2 and it lands better as its own beat.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brand is invented, out loud, here — not in a footnote at the end.</a:t>
            </a:r>
          </a:p>
          <a:p/>
          <a:p>
            <a:r>
              <a:t>The four sites are not decoration. They have genuinely different outdoor-seat shares, and that is what makes a per-site forecast mean something rather than being four copies of one model.</a:t>
            </a:r>
          </a:p>
          <a:p/>
          <a:p>
            <a:r>
              <a:t>Marina Walk is over half outdoor. Al Barsha is fully enclosed. Hold that contrast — the next slide turns it into the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word is EMERGENT. The simulator was given seat counts, not elasticities. The elasticity falls out of the seat counts.</a:t>
            </a:r>
          </a:p>
          <a:p/>
          <a:p>
            <a:r>
              <a:t>If asked how you know it is not circular: the slope is fitted from the generated series afterwards, and it recovers the ordering that the seat counts imply.</a:t>
            </a:r>
          </a:p>
          <a:p/>
          <a:p>
            <a:r>
              <a:t>This is also the honest answer to 'your data is invented' — the structure inside it is derived, not hand-placed.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labels, and two of them are honest admissions. Say which is which.</a:t>
            </a:r>
          </a:p>
          <a:p/>
          <a:p>
            <a:r>
              <a:t>Visit Dubai returns 403 to every non-browser client, so events are curated by hand from public listings and say so. The Codex clause text is 403 too — eight of eleven rules cite a section rather than a quotation, and the app prints 'clause unverified' beside each.</a:t>
            </a:r>
          </a:p>
          <a:p/>
          <a:p>
            <a:r>
              <a:t>If asked why not scrape it anyway: because a citation nobody can trace is worse than an admission.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gate, not the model. The target was 70% of weeks; it beat every one.</a:t>
            </a:r>
          </a:p>
          <a:p/>
          <a:p>
            <a:r>
              <a:t>If asked why gradient boosting and not Prophet: Prophet's build chain does not fit a free instance, and a model that cannot run where the app runs is not a candidate. Also, the claim being tested is that exogenous drivers move demand — a boosted tree takes them as explicit columns.</a:t>
            </a:r>
          </a:p>
          <a:p/>
          <a:p>
            <a:r>
              <a:t>Do not linger. The next slide is the one that earns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earns the rest. Do not rush it and do not apologise for it.</a:t>
            </a:r>
          </a:p>
          <a:p/>
          <a:p>
            <a:r>
              <a:t>The honest framing: one metric got worse, we understand exactly why, we chose the gate on decision-relevance rather than on which number flattered us, and we printed both.</a:t>
            </a:r>
          </a:p>
          <a:p/>
          <a:p>
            <a:r>
              <a:t>It also caught a real defect earlier — the model was predicting small positives on 392 closed hours. A trading-hours mask took sMAPE from 69.8% to 26.4%. Mention that if the examiner presses.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of these numbers are measured and one is an admission. Say so in that order.</a:t>
            </a:r>
          </a:p>
          <a:p/>
          <a:p>
            <a:r>
              <a:t>The structure is defensible even though the parameters are not: the objective is concave, so the optimum is unique and greedy marginal allocation finds it exactly. The KKT check — equal marginal return across funded cells — is asserted by a test.</a:t>
            </a:r>
          </a:p>
          <a:p/>
          <a:p>
            <a:r>
              <a:t>When a real promotion runs, measured lift replaces the parameters and nothing else in the machinery changes. That is the whole point of separating structure from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Precision matters as much as recall. A tool that flags every discount gets switched off, and then it catches nothing at all — so the clean half of the gold set is adversarial: discounts with stated terms, allergen statements, 'fresh' qualified by 'baked on site'.</a:t>
            </a:r>
          </a:p>
          <a:p/>
          <a:p>
            <a:r>
              <a:t>Per-language reporting was not cosmetic. The first rule set caught six violations in English, four in Arabic, two in Hindi. A blended number would have hidden exactly the imbalance it was written to find.</a:t>
            </a:r>
          </a:p>
          <a:p/>
          <a:p>
            <a:r>
              <a:t>Demo option: type 'Our best sugar-free detox latte' live. Three findings, each with its clause.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injections from 0% to 30%, all recovered inside a five-point tolerance.</a:t>
            </a:r>
          </a:p>
          <a:p/>
          <a:p>
            <a:r>
              <a:t>The zero-injection case is the interesting one and it leads straight into the next slide: hand it no lift at all and it does not return zero.</a:t>
            </a:r>
          </a:p>
          <a:p/>
          <a:p>
            <a:r>
              <a:t>If asked about CUPED: it uses pre-period behaviour to reduce variance, so the confidence interval is narrower without changing the point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second slide that earns the rest, and the most interesting finding in the project. It was not designed in; it was caught.</a:t>
            </a:r>
          </a:p>
          <a:p/>
          <a:p>
            <a:r>
              <a:t>The sequence to tell: the estimator reported −4.7% on a window where nothing happened. That should have been zero. Rather than shrug, it was measured on a placebo-in-time window and subtracted, and both figures are published.</a:t>
            </a:r>
          </a:p>
          <a:p/>
          <a:p>
            <a:r>
              <a:t>This is a real limitation of synthetic control on a small donor pool, not a bug in the code. Say that plainly — it is a stronger answer than a fix would have been.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number to dwell on is the third card, not the first.</a:t>
            </a:r>
          </a:p>
          <a:p/>
          <a:p>
            <a:r>
              <a:t>Until recently the harness reported a break ON PURPOSE: the Admin role was a request header, so 'X-Mawsim-Role: ADMIN' engaged the kill switch. The honest thing was to score it as a break rather than as an expected result — and then to fix it. It is now an HMAC-signed capability token; eleven cases attack that instead.</a:t>
            </a:r>
          </a:p>
          <a:p/>
          <a:p>
            <a:r>
              <a:t>If asked what a pass means here: only that these specific attempts were tried and recorded. No harness can say a system is secure.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limitations, not on the results. It is a stronger close and it pre-empts the first question.</a:t>
            </a:r>
          </a:p>
          <a:p/>
          <a:p>
            <a:r>
              <a:t>Do not read the list. Pick the two that matter most for the room — for a marketing examiner that is usually 'footfall is generated' and 'elasticities are assumed' — and say what each would take to fix.</a:t>
            </a:r>
          </a:p>
          <a:p/>
          <a:p>
            <a:r>
              <a:t>Then offer the live URL. If the instance has been idle it takes about fifty seconds to wake, so open it during slide 11 if you intend to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82880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Cambria"/>
              </a:rPr>
              <a:t>UPLIFT / MAWSIM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880360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C9D6E2"/>
                </a:solidFill>
                <a:latin typeface="Calibri"/>
              </a:rPr>
              <a:t>Dubai retail demand swings with events, weather and holidays.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401568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E8B45C"/>
                </a:solidFill>
                <a:latin typeface="Calibri"/>
              </a:rPr>
              <a:t>Promotions are planned on gut feel.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12064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9FB0C0"/>
                </a:solidFill>
                <a:latin typeface="Calibri"/>
              </a:rPr>
              <a:t>AI 208 · AI in Marketing     Krishna Mathur     SP Jain MAIB Term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48640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B45C"/>
                </a:solidFill>
                <a:latin typeface="Calibri"/>
              </a:rPr>
              <a:t>https://uplift-mawsim.vercel.app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12648"/>
            <a:ext cx="100584" cy="100584"/>
          </a:xfrm>
          <a:prstGeom prst="rect">
            <a:avLst/>
          </a:prstGeom>
          <a:solidFill>
            <a:srgbClr val="B06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4"/>
                </a:solidFill>
                <a:latin typeface="Calibri"/>
              </a:rPr>
              <a:t>THE BRAND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63721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B2A3A"/>
                </a:solidFill>
                <a:latin typeface="Cambria"/>
              </a:rPr>
              <a:t>SIDRA is fictional, and that is said on slide two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63721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B2A3A"/>
                </a:solidFill>
                <a:latin typeface="Calibri"/>
              </a:rPr>
              <a:t>A Dubai speciality coffee and bakery chain, four sites, invented for this demonstration. The footfall series is generated and labelled simulated at the type level — a record cannot be constructed without the label.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200400"/>
            <a:ext cx="2514600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33272" y="3438144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1F4E79"/>
                </a:solidFill>
                <a:latin typeface="Cambria"/>
              </a:rPr>
              <a:t>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44988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4"/>
                </a:solidFill>
                <a:latin typeface="Calibri"/>
              </a:rPr>
              <a:t>DXB-DTN
Dubai Mall district
outdoor seating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3200400"/>
            <a:ext cx="2514600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730752" y="3438144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1F4E79"/>
                </a:solidFill>
                <a:latin typeface="Cambria"/>
              </a:rPr>
              <a:t>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44988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4"/>
                </a:solidFill>
                <a:latin typeface="Calibri"/>
              </a:rPr>
              <a:t>DXB-MOE
Mall of the Emirates district
outdoor seating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200400"/>
            <a:ext cx="2514600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28232" y="3438144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B06E14"/>
                </a:solidFill>
                <a:latin typeface="Cambria"/>
              </a:rPr>
              <a:t>53%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44988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4"/>
                </a:solidFill>
                <a:latin typeface="Calibri"/>
              </a:rPr>
              <a:t>DXB-MAR
Dubai Marina promenade
outdoor seating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3200400"/>
            <a:ext cx="2514600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25712" y="3438144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1F4E79"/>
                </a:solidFill>
                <a:latin typeface="Cambria"/>
              </a:rPr>
              <a:t>27%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44988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4"/>
                </a:solidFill>
                <a:latin typeface="Calibri"/>
              </a:rPr>
              <a:t>DXB-DEI
Al Rigga
outdoor seating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12648"/>
            <a:ext cx="100584" cy="100584"/>
          </a:xfrm>
          <a:prstGeom prst="rect">
            <a:avLst/>
          </a:prstGeom>
          <a:solidFill>
            <a:srgbClr val="B06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4"/>
                </a:solidFill>
                <a:latin typeface="Calibri"/>
              </a:rPr>
              <a:t>WHY PER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63721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B2A3A"/>
                </a:solidFill>
                <a:latin typeface="Cambria"/>
              </a:rPr>
              <a:t>Same weather, four different responses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63721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B2A3A"/>
                </a:solidFill>
                <a:latin typeface="Calibri"/>
              </a:rPr>
              <a:t>All four sites sit in neighbouring ERA5 grid cells, so they get the same weather. What differs is how they respond — and the elasticity is derived from the seat counts in the brand kit, never written into the simulator.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3108960"/>
          <a:ext cx="676656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55279" y="3291840"/>
            <a:ext cx="35661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B2A3A"/>
                </a:solidFill>
                <a:latin typeface="Calibri"/>
              </a:rPr>
              <a:t>The fitted temperature slopes order exactly by outdoor share.
That ordering is emergent, not assumed — which is the whole reason it is worth showing.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12648"/>
            <a:ext cx="100584" cy="100584"/>
          </a:xfrm>
          <a:prstGeom prst="rect">
            <a:avLst/>
          </a:prstGeom>
          <a:solidFill>
            <a:srgbClr val="B06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4"/>
                </a:solidFill>
                <a:latin typeface="Calibri"/>
              </a:rPr>
              <a:t>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63721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B2A3A"/>
                </a:solidFill>
                <a:latin typeface="Cambria"/>
              </a:rPr>
              <a:t>Five datasets, four provenance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63721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B2A3A"/>
                </a:solidFill>
                <a:latin typeface="Calibri"/>
              </a:rPr>
              <a:t>A dataset cannot be constructed without a licence and a label. Observed, curated, simulated, sample — every API response and every chart carries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200400"/>
            <a:ext cx="2514600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33272" y="3438144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F4E79"/>
                </a:solidFill>
                <a:latin typeface="Cambria"/>
              </a:rPr>
              <a:t>72,192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44988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4"/>
                </a:solidFill>
                <a:latin typeface="Calibri"/>
              </a:rPr>
              <a:t>hours of ERA5 weather
observed · CC BY 4.0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3200400"/>
            <a:ext cx="2514600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730752" y="3438144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F4E79"/>
                </a:solidFill>
                <a:latin typeface="Cambria"/>
              </a:rPr>
              <a:t>245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44988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4"/>
                </a:solidFill>
                <a:latin typeface="Calibri"/>
              </a:rPr>
              <a:t>event instances
curated · Visit Dubai returns 403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200400"/>
            <a:ext cx="2514600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28232" y="3438144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B06E14"/>
                </a:solidFill>
                <a:latin typeface="Cambria"/>
              </a:rPr>
              <a:t>72,192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44988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4"/>
                </a:solidFill>
                <a:latin typeface="Calibri"/>
              </a:rPr>
              <a:t>hours of footfall
simulated · generated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3200400"/>
            <a:ext cx="2514600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25712" y="3438144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B06E14"/>
                </a:solidFill>
                <a:latin typeface="Cambria"/>
              </a:rPr>
              <a:t>8,737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44988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4"/>
                </a:solidFill>
                <a:latin typeface="Calibri"/>
              </a:rPr>
              <a:t>POS baskets
sample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12648"/>
            <a:ext cx="100584" cy="100584"/>
          </a:xfrm>
          <a:prstGeom prst="rect">
            <a:avLst/>
          </a:prstGeom>
          <a:solidFill>
            <a:srgbClr val="B06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4"/>
                </a:solidFill>
                <a:latin typeface="Calibri"/>
              </a:rPr>
              <a:t>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63721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B2A3A"/>
                </a:solidFill>
                <a:latin typeface="Cambria"/>
              </a:rPr>
              <a:t>36 of 36 site-weeks beaten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63721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B2A3A"/>
                </a:solidFill>
                <a:latin typeface="Calibri"/>
              </a:rPr>
              <a:t>Gradient boosting with exogenous drivers against a seasonal-naive baseline, on a chronological holdout — never a random split, which on an hourly series with a weekly cycle is close to handing the model the answer.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3108960"/>
          <a:ext cx="731520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03920" y="3108960"/>
            <a:ext cx="292608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759952" y="3346704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1F4E79"/>
                </a:solidFill>
                <a:latin typeface="Cambria"/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59952" y="3767328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4"/>
                </a:solidFill>
                <a:latin typeface="Calibri"/>
              </a:rPr>
              <a:t>of site-weeks won
target was 70%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4754880"/>
            <a:ext cx="292608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59952" y="4992624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1F4E79"/>
                </a:solidFill>
                <a:latin typeface="Cambria"/>
              </a:rPr>
              <a:t>28%–34%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9952" y="5413248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4"/>
                </a:solidFill>
                <a:latin typeface="Calibri"/>
              </a:rPr>
              <a:t>lower MAE than the baseline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12648"/>
            <a:ext cx="100584" cy="100584"/>
          </a:xfrm>
          <a:prstGeom prst="rect">
            <a:avLst/>
          </a:prstGeom>
          <a:solidFill>
            <a:srgbClr val="B06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4"/>
                </a:solidFill>
                <a:latin typeface="Calibri"/>
              </a:rPr>
              <a:t>THE METRIC THAT DISAGREED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63721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B2A3A"/>
                </a:solidFill>
                <a:latin typeface="Cambria"/>
              </a:rPr>
              <a:t>And it is worse than the baseline on sMAPE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63721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B2A3A"/>
                </a:solidFill>
                <a:latin typeface="Calibri"/>
              </a:rPr>
              <a:t>Seasonal naive returns the exact integer from the same hour last week. On the many low-count hours that is often precisely right — proportionally perfect while being further away in absolute terms.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3108960"/>
          <a:ext cx="731520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503920" y="3200400"/>
            <a:ext cx="30175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B2A3A"/>
                </a:solidFill>
                <a:latin typeface="Calibri"/>
              </a:rPr>
              <a:t>For staffing a café the absolute error is the decision-relevant one, so MAE is the gate.
sMAPE is reported because dropping the metric that disagrees with you is how a report becomes an advertisement.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12648"/>
            <a:ext cx="100584" cy="100584"/>
          </a:xfrm>
          <a:prstGeom prst="rect">
            <a:avLst/>
          </a:prstGeom>
          <a:solidFill>
            <a:srgbClr val="B06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4"/>
                </a:solidFill>
                <a:latin typeface="Calibri"/>
              </a:rPr>
              <a:t>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63721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B2A3A"/>
                </a:solidFill>
                <a:latin typeface="Cambria"/>
              </a:rPr>
              <a:t>Fifteen cells, not five channels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63721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B2A3A"/>
                </a:solidFill>
                <a:latin typeface="Calibri"/>
              </a:rPr>
              <a:t>A café's promotion budget is small, so a channel-only split has little to say. The allocator optimises over five channels × three dayparts: aggregator spend pays back at midday and is wasted at 07:00.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200400"/>
            <a:ext cx="3291840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33272" y="3438144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>
                <a:solidFill>
                  <a:srgbClr val="1F4E79"/>
                </a:solidFill>
                <a:latin typeface="Cambria"/>
              </a:rPr>
              <a:t>91.8%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4498848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4"/>
                </a:solidFill>
                <a:latin typeface="Calibri"/>
              </a:rPr>
              <a:t>of customers keep their RFM segment
across 25 bootstrap resamples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200400"/>
            <a:ext cx="3291840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53712" y="3438144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>
                <a:solidFill>
                  <a:srgbClr val="1F4E79"/>
                </a:solidFill>
                <a:latin typeface="Cambria"/>
              </a:rPr>
              <a:t>≈0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4498848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4"/>
                </a:solidFill>
                <a:latin typeface="Calibri"/>
              </a:rPr>
              <a:t>KKT marginal spread at the optimum
equal return on the next dirham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3200400"/>
            <a:ext cx="3291840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74152" y="3438144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B06E14"/>
                </a:solidFill>
                <a:latin typeface="Cambria"/>
              </a:rPr>
              <a:t>assumed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4498848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4"/>
                </a:solidFill>
                <a:latin typeface="Calibri"/>
              </a:rPr>
              <a:t>the response elasticities — no promotion
has run, and every response says so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12648"/>
            <a:ext cx="100584" cy="100584"/>
          </a:xfrm>
          <a:prstGeom prst="rect">
            <a:avLst/>
          </a:prstGeom>
          <a:solidFill>
            <a:srgbClr val="B06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4"/>
                </a:solidFill>
                <a:latin typeface="Calibri"/>
              </a:rPr>
              <a:t>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63721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B2A3A"/>
                </a:solidFill>
                <a:latin typeface="Cambria"/>
              </a:rPr>
              <a:t>100% recall and precision, worst of three languages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63721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B2A3A"/>
                </a:solidFill>
                <a:latin typeface="Calibri"/>
              </a:rPr>
              <a:t>Creatives are composed from the brand kit — identical every run, which is what makes a panel score mean anything. Eleven rules, each citing its clause. Deterministic regex, because a verdict that depends on a model's mood cannot be audited.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291840"/>
            <a:ext cx="2514600" cy="19202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33272" y="3529584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1F4E79"/>
                </a:solidFill>
                <a:latin typeface="Cambria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44988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4"/>
                </a:solidFill>
                <a:latin typeface="Calibri"/>
              </a:rPr>
              <a:t>gold cases in English
half deliberately adversarial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3291840"/>
            <a:ext cx="2514600" cy="19202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730752" y="3529584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1F4E79"/>
                </a:solidFill>
                <a:latin typeface="Cambria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44988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4"/>
                </a:solidFill>
                <a:latin typeface="Calibri"/>
              </a:rPr>
              <a:t>recall in Arabic
reported per language, never blended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291840"/>
            <a:ext cx="2514600" cy="19202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28232" y="3529584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1F4E79"/>
                </a:solidFill>
                <a:latin typeface="Cambria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44988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4"/>
                </a:solidFill>
                <a:latin typeface="Calibri"/>
              </a:rPr>
              <a:t>recall in Hindi
the rule set caught 2 before it caught 11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3291840"/>
            <a:ext cx="2514600" cy="19202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25712" y="3529584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1F4E79"/>
                </a:solidFill>
                <a:latin typeface="Cambria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44988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4"/>
                </a:solidFill>
                <a:latin typeface="Calibri"/>
              </a:rPr>
              <a:t>injection and evasion attacks
all held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12648"/>
            <a:ext cx="100584" cy="100584"/>
          </a:xfrm>
          <a:prstGeom prst="rect">
            <a:avLst/>
          </a:prstGeom>
          <a:solidFill>
            <a:srgbClr val="B06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4"/>
                </a:solidFill>
                <a:latin typeface="Calibri"/>
              </a:rPr>
              <a:t>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63721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B2A3A"/>
                </a:solidFill>
                <a:latin typeface="Cambria"/>
              </a:rPr>
              <a:t>An injected lift is recovered within 2.61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63721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B2A3A"/>
                </a:solidFill>
                <a:latin typeface="Calibri"/>
              </a:rPr>
              <a:t>Synthetic control with CUPED. The estimator is handed a known lift and checked for whether it finds it — because one that cannot recover a lift it was given is not measuring anything.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3108960"/>
          <a:ext cx="7498079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0" y="3566160"/>
            <a:ext cx="2743200" cy="16459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942832" y="3803904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1">
                <a:solidFill>
                  <a:srgbClr val="1F4E79"/>
                </a:solidFill>
                <a:latin typeface="Cambria"/>
              </a:rPr>
              <a:t>2.61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42832" y="449884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4"/>
                </a:solidFill>
                <a:latin typeface="Calibri"/>
              </a:rPr>
              <a:t>worst error, in points
tolerance was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12648"/>
            <a:ext cx="100584" cy="100584"/>
          </a:xfrm>
          <a:prstGeom prst="rect">
            <a:avLst/>
          </a:prstGeom>
          <a:solidFill>
            <a:srgbClr val="B06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4"/>
                </a:solidFill>
                <a:latin typeface="Calibri"/>
              </a:rPr>
              <a:t>THE ESTIMATOR'S OWN BIAS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63721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B2A3A"/>
                </a:solidFill>
                <a:latin typeface="Cambria"/>
              </a:rPr>
              <a:t>It returns -3.5% where nothing happened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63721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B2A3A"/>
                </a:solidFill>
                <a:latin typeface="Calibri"/>
              </a:rPr>
              <a:t>Not noise. The donor blend is dominated by the fully enclosed Al Barsha site; Marina Walk is more than half outdoor. As the Gulf summer arrives Marina falls away from its own history while the enclosed donor does not — so the counterfactual drifts for reasons unrelated to any promotion.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84048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33272" y="4078224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>
                <a:solidFill>
                  <a:srgbClr val="B06E14"/>
                </a:solidFill>
                <a:latin typeface="Cambria"/>
              </a:rPr>
              <a:t>-3.5%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4864608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4"/>
                </a:solidFill>
                <a:latin typeface="Calibri"/>
              </a:rPr>
              <a:t>measured on a placebo window
and subtracted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3977639"/>
            <a:ext cx="69494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B2A3A"/>
                </a:solidFill>
                <a:latin typeface="Calibri"/>
              </a:rPr>
              <a:t>With four sites and one uniquely weather-elastic, no convex blend of the others can match Marina's weather response. It is inside the donors' hull on LEVEL and outside it on ELASTICITY.
Both numbers are reported — the raw estimate and the correction.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12648"/>
            <a:ext cx="100584" cy="100584"/>
          </a:xfrm>
          <a:prstGeom prst="rect">
            <a:avLst/>
          </a:prstGeom>
          <a:solidFill>
            <a:srgbClr val="B06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4"/>
                </a:solidFill>
                <a:latin typeface="Calibri"/>
              </a:rPr>
              <a:t>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63721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B2A3A"/>
                </a:solidFill>
                <a:latin typeface="Cambria"/>
              </a:rPr>
              <a:t>48 of 48 attacks held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63721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B2A3A"/>
                </a:solidFill>
                <a:latin typeface="Calibri"/>
              </a:rPr>
              <a:t>No agent in the registry holds a tool with a side effect and the whole API is GET, so there is no verb with which to write. That is an architectural claim, and a claim is worth what the attempt to break it is worth.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291840"/>
            <a:ext cx="3291840" cy="19202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33272" y="3529584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600" b="1">
                <a:solidFill>
                  <a:srgbClr val="1F4E79"/>
                </a:solidFill>
                <a:latin typeface="Cambria"/>
              </a:rPr>
              <a:t>48/48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4498848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4"/>
                </a:solidFill>
                <a:latin typeface="Calibri"/>
              </a:rPr>
              <a:t>attempts held across 7 OWASP
agentic-system controls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291840"/>
            <a:ext cx="3291840" cy="19202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53712" y="3529584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600" b="1">
                <a:solidFill>
                  <a:srgbClr val="1F4E79"/>
                </a:solidFill>
                <a:latin typeface="Cambria"/>
              </a:rPr>
              <a:t>10/10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4498848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4"/>
                </a:solidFill>
                <a:latin typeface="Calibri"/>
              </a:rPr>
              <a:t>out-of-domain questions refused
rather than answered plausibly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3291840"/>
            <a:ext cx="3291840" cy="19202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74152" y="3529584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B06E14"/>
                </a:solidFill>
                <a:latin typeface="Cambria"/>
              </a:rPr>
              <a:t>1 →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4498848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4"/>
                </a:solidFill>
                <a:latin typeface="Calibri"/>
              </a:rPr>
              <a:t>accepted breaks. A forgeable header
engaged the kill switch. It is a signed
token now.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3152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End on this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106070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C9D6E2"/>
                </a:solidFill>
                <a:latin typeface="Calibri"/>
              </a:rPr>
              <a:t>Footfall is generated.
Event dates are placed, not confirmed — Visit Dubai returns 403.
Islamic holidays are calculated against a moon-sighting rule.
Eight of eleven compliance clauses are cited by section, not quoted.
Allocator elasticities are assumed, because no promotion has run.
The persona panel is a rubric, not customer research.
A bearer token is usable by whoever holds it until it expires.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53212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8B45C"/>
                </a:solidFill>
                <a:latin typeface="Calibri"/>
              </a:rPr>
              <a:t>https://uplift-mawsim.vercel.app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